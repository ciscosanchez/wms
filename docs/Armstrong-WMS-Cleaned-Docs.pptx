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B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965E3D"/>
                </a:solidFill>
                <a:latin typeface="Aptos"/>
              </a:rPr>
              <a:t>DOCUMENT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22B34"/>
                </a:solidFill>
                <a:latin typeface="Aptos"/>
              </a:rPr>
              <a:t>Armstrong WMS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46B72"/>
                </a:solidFill>
                <a:latin typeface="Aptos"/>
              </a:rPr>
              <a:t>Cleaned presentation of the current document set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023360"/>
            <a:ext cx="60350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A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/>
            <a:r>
              <a:rPr sz="1300" b="0">
                <a:solidFill>
                  <a:srgbClr val="222B34"/>
                </a:solidFill>
                <a:latin typeface="Aptos"/>
              </a:rPr>
              <a:t>This deck keeps the source documents intact in presentation format rather than reframing them as a sales pitch.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6B72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B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222B34"/>
                </a:solidFill>
                <a:latin typeface="Aptos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1556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46B72"/>
                </a:solidFill>
                <a:latin typeface="Aptos"/>
              </a:rPr>
              <a:t>System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49834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A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09728"/>
          <a:lstStyle/>
          <a:p>
            <a:pPr algn="ctr"/>
            <a:r>
              <a:rPr sz="1200" b="1">
                <a:solidFill>
                  <a:srgbClr val="965E3D"/>
                </a:solidFill>
                <a:latin typeface="Aptos"/>
              </a:rPr>
              <a:t>Application stack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B34"/>
                </a:solidFill>
                <a:latin typeface="Aptos"/>
              </a:rPr>
              <a:t>Next.js App Router, Prisma ORM, NextAuth v5, and MinIO/S3 storage.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B34"/>
                </a:solidFill>
                <a:latin typeface="Aptos"/>
              </a:rPr>
              <a:t>Middleware layer handles tenant resolution, authentication, and RBAC.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B34"/>
                </a:solidFill>
                <a:latin typeface="Aptos"/>
              </a:rPr>
              <a:t>PostgreSQL 16 stores shared platform data and tenant-specific WMS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49834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A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09728"/>
          <a:lstStyle/>
          <a:p>
            <a:pPr algn="ctr"/>
            <a:r>
              <a:rPr sz="1200" b="1">
                <a:solidFill>
                  <a:srgbClr val="965E3D"/>
                </a:solidFill>
                <a:latin typeface="Aptos"/>
              </a:rPr>
              <a:t>Data isolation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B34"/>
                </a:solidFill>
                <a:latin typeface="Aptos"/>
              </a:rPr>
              <a:t>Schema-per-tenant model: public schema plus tenant-specific schemas such as tenant_acme.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B34"/>
                </a:solidFill>
                <a:latin typeface="Aptos"/>
              </a:rPr>
              <a:t>Chosen over shared tables for stronger isolation without database-per-tenant overhead.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355080"/>
            <a:ext cx="3840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6B72"/>
                </a:solidFill>
                <a:latin typeface="Aptos"/>
              </a:rPr>
              <a:t>Source: docs/architecture.md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6B72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B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222B34"/>
                </a:solidFill>
                <a:latin typeface="Aptos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1556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46B72"/>
                </a:solidFill>
                <a:latin typeface="Aptos"/>
              </a:rPr>
              <a:t>Operational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49834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A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09728"/>
          <a:lstStyle/>
          <a:p>
            <a:pPr algn="ctr"/>
            <a:r>
              <a:rPr sz="1200" b="1">
                <a:solidFill>
                  <a:srgbClr val="965E3D"/>
                </a:solidFill>
                <a:latin typeface="Aptos"/>
              </a:rPr>
              <a:t>Dual-mode operations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B34"/>
                </a:solidFill>
                <a:latin typeface="Aptos"/>
              </a:rPr>
              <a:t>Shared core: inventory, products, warehouse, clients, audit log, and sequences.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B34"/>
                </a:solidFill>
                <a:latin typeface="Aptos"/>
              </a:rPr>
              <a:t>Freight/3PL mode: inbound ASNs, BOL processing, container receiving, discrepancies, inspections.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B34"/>
                </a:solidFill>
                <a:latin typeface="Aptos"/>
              </a:rPr>
              <a:t>Fulfillment mode: orders, sales channels, pick tasks, packing, outbound shipments, carrier rate shopping.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49834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A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09728"/>
          <a:lstStyle/>
          <a:p>
            <a:pPr algn="ctr"/>
            <a:r>
              <a:rPr sz="1200" b="1">
                <a:solidFill>
                  <a:srgbClr val="965E3D"/>
                </a:solidFill>
                <a:latin typeface="Aptos"/>
              </a:rPr>
              <a:t>Core patterns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B34"/>
                </a:solidFill>
                <a:latin typeface="Aptos"/>
              </a:rPr>
              <a:t>Immutable inventory transaction ledger records receive, putaway, move, pick, and adjust events.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B34"/>
                </a:solidFill>
                <a:latin typeface="Aptos"/>
              </a:rPr>
              <a:t>Request lifecycle flows through middleware, auth, tenant resolution, business logic, audit, and cache revalidation.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355080"/>
            <a:ext cx="3840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6B72"/>
                </a:solidFill>
                <a:latin typeface="Aptos"/>
              </a:rPr>
              <a:t>Source: docs/architecture.md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6B72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B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222B34"/>
                </a:solidFill>
                <a:latin typeface="Aptos"/>
              </a:rPr>
              <a:t>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1556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46B72"/>
                </a:solidFill>
                <a:latin typeface="Aptos"/>
              </a:rPr>
              <a:t>System Inventory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49834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A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09728"/>
          <a:lstStyle/>
          <a:p>
            <a:pPr algn="ctr"/>
            <a:r>
              <a:rPr sz="1200" b="1">
                <a:solidFill>
                  <a:srgbClr val="965E3D"/>
                </a:solidFill>
                <a:latin typeface="Aptos"/>
              </a:rPr>
              <a:t>Existing systems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B34"/>
                </a:solidFill>
                <a:latin typeface="Aptos"/>
              </a:rPr>
              <a:t>NetSuite ERP for financials, billing, AR/AP, customer records, and contracts.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B34"/>
                </a:solidFill>
                <a:latin typeface="Aptos"/>
              </a:rPr>
              <a:t>DispatchPro TMS for load management, carrier dispatch, and tracking.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49834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A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09728"/>
          <a:lstStyle/>
          <a:p>
            <a:pPr algn="ctr"/>
            <a:r>
              <a:rPr sz="1200" b="1">
                <a:solidFill>
                  <a:srgbClr val="965E3D"/>
                </a:solidFill>
                <a:latin typeface="Aptos"/>
              </a:rPr>
              <a:t>Building / planned systems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B34"/>
                </a:solidFill>
                <a:latin typeface="Aptos"/>
              </a:rPr>
              <a:t>Armstrong WMS for receiving, inventory, fulfillment, and warehouse operations.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B34"/>
                </a:solidFill>
                <a:latin typeface="Aptos"/>
              </a:rPr>
              <a:t>Operator mobile app, client portal, marketplace connectors, carrier integrations, and document intelligence.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977640"/>
            <a:ext cx="49834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A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09728"/>
          <a:lstStyle/>
          <a:p>
            <a:pPr algn="ctr"/>
            <a:r>
              <a:rPr sz="1200" b="1">
                <a:solidFill>
                  <a:srgbClr val="965E3D"/>
                </a:solidFill>
                <a:latin typeface="Aptos"/>
              </a:rPr>
              <a:t>Identified gaps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B34"/>
                </a:solidFill>
                <a:latin typeface="Aptos"/>
              </a:rPr>
              <a:t>Sales CRM, yard management, and billing engine.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355080"/>
            <a:ext cx="3840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6B72"/>
                </a:solidFill>
                <a:latin typeface="Aptos"/>
              </a:rPr>
              <a:t>Source: docs/ecosystem.md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6B72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B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222B34"/>
                </a:solidFill>
                <a:latin typeface="Aptos"/>
              </a:rPr>
              <a:t>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1556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46B72"/>
                </a:solidFill>
                <a:latin typeface="Aptos"/>
              </a:rPr>
              <a:t>Application Structure And Integration Flows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49834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A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09728"/>
          <a:lstStyle/>
          <a:p>
            <a:pPr algn="ctr"/>
            <a:r>
              <a:rPr sz="1200" b="1">
                <a:solidFill>
                  <a:srgbClr val="965E3D"/>
                </a:solidFill>
                <a:latin typeface="Aptos"/>
              </a:rPr>
              <a:t>Application structure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B34"/>
                </a:solidFill>
                <a:latin typeface="Aptos"/>
              </a:rPr>
              <a:t>Single codebase with route groups for tenant WMS, operator workflows, client portal, and platform admin.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B34"/>
                </a:solidFill>
                <a:latin typeface="Aptos"/>
              </a:rPr>
              <a:t>Operator app and client portal are part of the same application, not separate codebases.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49834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A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09728"/>
          <a:lstStyle/>
          <a:p>
            <a:pPr algn="ctr"/>
            <a:r>
              <a:rPr sz="1200" b="1">
                <a:solidFill>
                  <a:srgbClr val="965E3D"/>
                </a:solidFill>
                <a:latin typeface="Aptos"/>
              </a:rPr>
              <a:t>Critical integration flows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B34"/>
                </a:solidFill>
                <a:latin typeface="Aptos"/>
              </a:rPr>
              <a:t>WMS billable events to NetSuite.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B34"/>
                </a:solidFill>
                <a:latin typeface="Aptos"/>
              </a:rPr>
              <a:t>WMS ship requests and tracking with DispatchPro.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B34"/>
                </a:solidFill>
                <a:latin typeface="Aptos"/>
              </a:rPr>
              <a:t>Orders, inventory, and tracking with marketplaces and EDI.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B34"/>
                </a:solidFill>
                <a:latin typeface="Aptos"/>
              </a:rPr>
              <a:t>Label requests and tracking with carrier APIs.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B34"/>
                </a:solidFill>
                <a:latin typeface="Aptos"/>
              </a:rPr>
              <a:t>Real-time inventory, order, shipment, and billing visibility through the client portal.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355080"/>
            <a:ext cx="3840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6B72"/>
                </a:solidFill>
                <a:latin typeface="Aptos"/>
              </a:rPr>
              <a:t>Source: docs/ecosystem.md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6B72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B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222B34"/>
                </a:solidFill>
                <a:latin typeface="Aptos"/>
              </a:rPr>
              <a:t>Identification To Cash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1556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46B72"/>
                </a:solidFill>
                <a:latin typeface="Aptos"/>
              </a:rPr>
              <a:t>Phase Structure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49834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A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09728"/>
          <a:lstStyle/>
          <a:p>
            <a:pPr algn="ctr"/>
            <a:r>
              <a:rPr sz="1200" b="1">
                <a:solidFill>
                  <a:srgbClr val="965E3D"/>
                </a:solidFill>
                <a:latin typeface="Aptos"/>
              </a:rPr>
              <a:t>Phase 1: Identify &amp; sell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B34"/>
                </a:solidFill>
                <a:latin typeface="Aptos"/>
              </a:rPr>
              <a:t>Lead capture, qualification, proposal, contract, and onboarding.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B34"/>
                </a:solidFill>
                <a:latin typeface="Aptos"/>
              </a:rPr>
              <a:t>CRM owns lead-to-opportunity flow; NetSuite stores customer and rate-card terms; WMS sets up client and warehouse context.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49834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A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09728"/>
          <a:lstStyle/>
          <a:p>
            <a:pPr algn="ctr"/>
            <a:r>
              <a:rPr sz="1200" b="1">
                <a:solidFill>
                  <a:srgbClr val="965E3D"/>
                </a:solidFill>
                <a:latin typeface="Aptos"/>
              </a:rPr>
              <a:t>Phase 2: Receive &amp; store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B34"/>
                </a:solidFill>
                <a:latin typeface="Aptos"/>
              </a:rPr>
              <a:t>DispatchPro manages carrier scheduling and tracking.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B34"/>
                </a:solidFill>
                <a:latin typeface="Aptos"/>
              </a:rPr>
              <a:t>WMS creates ASN and receiving context; operator workflow executes unload, receive, and putaway.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977640"/>
            <a:ext cx="49834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A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09728"/>
          <a:lstStyle/>
          <a:p>
            <a:pPr algn="ctr"/>
            <a:r>
              <a:rPr sz="1200" b="1">
                <a:solidFill>
                  <a:srgbClr val="965E3D"/>
                </a:solidFill>
                <a:latin typeface="Aptos"/>
              </a:rPr>
              <a:t>Phase 3: Store &amp; manage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B34"/>
                </a:solidFill>
                <a:latin typeface="Aptos"/>
              </a:rPr>
              <a:t>Storage billing, cycle counts, replenishment, alerts, and client inventory visibility.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355080"/>
            <a:ext cx="3840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6B72"/>
                </a:solidFill>
                <a:latin typeface="Aptos"/>
              </a:rPr>
              <a:t>Source: docs/flow-identification-to-cash.md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6B72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B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222B34"/>
                </a:solidFill>
                <a:latin typeface="Aptos"/>
              </a:rPr>
              <a:t>Identification To Cash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1556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46B72"/>
                </a:solidFill>
                <a:latin typeface="Aptos"/>
              </a:rPr>
              <a:t>Fulfill, Bill, And Collect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49834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A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09728"/>
          <a:lstStyle/>
          <a:p>
            <a:pPr algn="ctr"/>
            <a:r>
              <a:rPr sz="1200" b="1">
                <a:solidFill>
                  <a:srgbClr val="965E3D"/>
                </a:solidFill>
                <a:latin typeface="Aptos"/>
              </a:rPr>
              <a:t>Phase 4: Fulfill &amp; ship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B34"/>
                </a:solidFill>
                <a:latin typeface="Aptos"/>
              </a:rPr>
              <a:t>Orders arrive from client portal, marketplaces, EDI 940, API, or manual entry.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B34"/>
                </a:solidFill>
                <a:latin typeface="Aptos"/>
              </a:rPr>
              <a:t>WMS handles allocation, batching, pick tasks, packing, shipping decisions, and tracking.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49834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A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09728"/>
          <a:lstStyle/>
          <a:p>
            <a:pPr algn="ctr"/>
            <a:r>
              <a:rPr sz="1200" b="1">
                <a:solidFill>
                  <a:srgbClr val="965E3D"/>
                </a:solidFill>
                <a:latin typeface="Aptos"/>
              </a:rPr>
              <a:t>Phase 5: Bill &amp; collect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B34"/>
                </a:solidFill>
                <a:latin typeface="Aptos"/>
              </a:rPr>
              <a:t>Warehouse events become billable events that move into NetSuite for invoicing and collection.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B34"/>
                </a:solidFill>
                <a:latin typeface="Aptos"/>
              </a:rPr>
              <a:t>Examples across the document include receiving, storage, pick/pack, value-add services, and shipping charges.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355080"/>
            <a:ext cx="3840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6B72"/>
                </a:solidFill>
                <a:latin typeface="Aptos"/>
              </a:rPr>
              <a:t>Source: docs/flow-identification-to-cash.md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6B72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B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222B34"/>
                </a:solidFill>
                <a:latin typeface="Aptos"/>
              </a:rPr>
              <a:t>Receiving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1556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46B72"/>
                </a:solidFill>
                <a:latin typeface="Aptos"/>
              </a:rPr>
              <a:t>Status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49834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A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09728"/>
          <a:lstStyle/>
          <a:p>
            <a:pPr algn="ctr"/>
            <a:r>
              <a:rPr sz="1200" b="1">
                <a:solidFill>
                  <a:srgbClr val="965E3D"/>
                </a:solidFill>
                <a:latin typeface="Aptos"/>
              </a:rPr>
              <a:t>Statuses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B34"/>
                </a:solidFill>
                <a:latin typeface="Aptos"/>
              </a:rPr>
              <a:t>Draft -&gt; Expected -&gt; Arrived -&gt; Receiving -&gt; Inspection -&gt; Completed.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B34"/>
                </a:solidFill>
                <a:latin typeface="Aptos"/>
              </a:rPr>
              <a:t>Any status can transition to Cancelled.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49834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A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09728"/>
          <a:lstStyle/>
          <a:p>
            <a:pPr algn="ctr"/>
            <a:r>
              <a:rPr sz="1200" b="1">
                <a:solidFill>
                  <a:srgbClr val="965E3D"/>
                </a:solidFill>
                <a:latin typeface="Aptos"/>
              </a:rPr>
              <a:t>Purpose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B34"/>
                </a:solidFill>
                <a:latin typeface="Aptos"/>
              </a:rPr>
              <a:t>ASN-based freight receiving workflow for expected inbound shipments.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B34"/>
                </a:solidFill>
                <a:latin typeface="Aptos"/>
              </a:rPr>
              <a:t>Registers expected freight before arrival and finalizes inventory after warehouse processing.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355080"/>
            <a:ext cx="3840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6B72"/>
                </a:solidFill>
                <a:latin typeface="Aptos"/>
              </a:rPr>
              <a:t>Source: docs/flow-receiving.md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6B72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B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222B34"/>
                </a:solidFill>
                <a:latin typeface="Aptos"/>
              </a:rPr>
              <a:t>Receiving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1556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46B72"/>
                </a:solidFill>
                <a:latin typeface="Aptos"/>
              </a:rPr>
              <a:t>Step-By-Step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49834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A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09728"/>
          <a:lstStyle/>
          <a:p>
            <a:pPr algn="ctr"/>
            <a:r>
              <a:rPr sz="1200" b="1">
                <a:solidFill>
                  <a:srgbClr val="965E3D"/>
                </a:solidFill>
                <a:latin typeface="Aptos"/>
              </a:rPr>
              <a:t>Setup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B34"/>
                </a:solidFill>
                <a:latin typeface="Aptos"/>
              </a:rPr>
              <a:t>Create ASN draft with client, carrier, BOL, tracking, PO number, and expected date.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B34"/>
                </a:solidFill>
                <a:latin typeface="Aptos"/>
              </a:rPr>
              <a:t>Add line items with product, expected quantity, UOM, and lot number when applicable.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B34"/>
                </a:solidFill>
                <a:latin typeface="Aptos"/>
              </a:rPr>
              <a:t>Mark shipment expected and notify the warehouse.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49834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A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09728"/>
          <a:lstStyle/>
          <a:p>
            <a:pPr algn="ctr"/>
            <a:r>
              <a:rPr sz="1200" b="1">
                <a:solidFill>
                  <a:srgbClr val="965E3D"/>
                </a:solidFill>
                <a:latin typeface="Aptos"/>
              </a:rPr>
              <a:t>Execution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B34"/>
                </a:solidFill>
                <a:latin typeface="Aptos"/>
              </a:rPr>
              <a:t>Mark arrival at the dock.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B34"/>
                </a:solidFill>
                <a:latin typeface="Aptos"/>
              </a:rPr>
              <a:t>Receive line items with actual quantity, condition, bin, lot/serial, and notes.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B34"/>
                </a:solidFill>
                <a:latin typeface="Aptos"/>
              </a:rPr>
              <a:t>Log discrepancies for shortage, overage, or damage.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B34"/>
                </a:solidFill>
                <a:latin typeface="Aptos"/>
              </a:rPr>
              <a:t>Run optional inspection checklists.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B34"/>
                </a:solidFill>
                <a:latin typeface="Aptos"/>
              </a:rPr>
              <a:t>Complete receiving and create inventory records plus receive transactions.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355080"/>
            <a:ext cx="3840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6B72"/>
                </a:solidFill>
                <a:latin typeface="Aptos"/>
              </a:rPr>
              <a:t>Source: docs/flow-receiving.md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6B72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B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222B34"/>
                </a:solidFill>
                <a:latin typeface="Aptos"/>
              </a:rPr>
              <a:t>Fulfillment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1556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46B72"/>
                </a:solidFill>
                <a:latin typeface="Aptos"/>
              </a:rPr>
              <a:t>Order Status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49834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A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09728"/>
          <a:lstStyle/>
          <a:p>
            <a:pPr algn="ctr"/>
            <a:r>
              <a:rPr sz="1200" b="1">
                <a:solidFill>
                  <a:srgbClr val="965E3D"/>
                </a:solidFill>
                <a:latin typeface="Aptos"/>
              </a:rPr>
              <a:t>Statuses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B34"/>
                </a:solidFill>
                <a:latin typeface="Aptos"/>
              </a:rPr>
              <a:t>Pending -&gt; Awaiting Fulfillment -&gt; Allocated -&gt; Picking -&gt; Picked -&gt; Packing -&gt; Packed -&gt; Shipped -&gt; Delivered.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B34"/>
                </a:solidFill>
                <a:latin typeface="Aptos"/>
              </a:rPr>
              <a:t>Exception statuses include Cancelled, On Hold, and Backordered.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49834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A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09728"/>
          <a:lstStyle/>
          <a:p>
            <a:pPr algn="ctr"/>
            <a:r>
              <a:rPr sz="1200" b="1">
                <a:solidFill>
                  <a:srgbClr val="965E3D"/>
                </a:solidFill>
                <a:latin typeface="Aptos"/>
              </a:rPr>
              <a:t>Purpose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B34"/>
                </a:solidFill>
                <a:latin typeface="Aptos"/>
              </a:rPr>
              <a:t>Outbound workflow for orders from Shopify, Amazon, Walmart, manual entry, and API.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B34"/>
                </a:solidFill>
                <a:latin typeface="Aptos"/>
              </a:rPr>
              <a:t>Orders are ingested, allocated, picked, packed, and shipped with tracking.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355080"/>
            <a:ext cx="3840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6B72"/>
                </a:solidFill>
                <a:latin typeface="Aptos"/>
              </a:rPr>
              <a:t>Source: docs/flow-fulfillment.md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6B72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B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222B34"/>
                </a:solidFill>
                <a:latin typeface="Aptos"/>
              </a:rPr>
              <a:t>Fulfillment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1556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46B72"/>
                </a:solidFill>
                <a:latin typeface="Aptos"/>
              </a:rPr>
              <a:t>Step-By-Step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49834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A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09728"/>
          <a:lstStyle/>
          <a:p>
            <a:pPr algn="ctr"/>
            <a:r>
              <a:rPr sz="1200" b="1">
                <a:solidFill>
                  <a:srgbClr val="965E3D"/>
                </a:solidFill>
                <a:latin typeface="Aptos"/>
              </a:rPr>
              <a:t>Order to pick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B34"/>
                </a:solidFill>
                <a:latin typeface="Aptos"/>
              </a:rPr>
              <a:t>Ingest order with client, ship-to, line items, priority, and ship-by date.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B34"/>
                </a:solidFill>
                <a:latin typeface="Aptos"/>
              </a:rPr>
              <a:t>Allocate inventory and create allocation transactions.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B34"/>
                </a:solidFill>
                <a:latin typeface="Aptos"/>
              </a:rPr>
              <a:t>Generate pick tasks using single-order, batch, wave, or zone methods.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49834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A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09728"/>
          <a:lstStyle/>
          <a:p>
            <a:pPr algn="ctr"/>
            <a:r>
              <a:rPr sz="1200" b="1">
                <a:solidFill>
                  <a:srgbClr val="965E3D"/>
                </a:solidFill>
                <a:latin typeface="Aptos"/>
              </a:rPr>
              <a:t>Pick to ship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B34"/>
                </a:solidFill>
                <a:latin typeface="Aptos"/>
              </a:rPr>
              <a:t>Pick execution confirms bin, product, quantity, and short-pick handling.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B34"/>
                </a:solidFill>
                <a:latin typeface="Aptos"/>
              </a:rPr>
              <a:t>Packing records package choice, dimensions, weight, and value-added services.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B34"/>
                </a:solidFill>
                <a:latin typeface="Aptos"/>
              </a:rPr>
              <a:t>Shipping rate-shops carriers, generates labels, stores tracking, and confirms delivery.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355080"/>
            <a:ext cx="3840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6B72"/>
                </a:solidFill>
                <a:latin typeface="Aptos"/>
              </a:rPr>
              <a:t>Source: docs/flow-fulfillment.md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6B72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B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222B34"/>
                </a:solidFill>
                <a:latin typeface="Aptos"/>
              </a:rPr>
              <a:t>Document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1556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46B72"/>
                </a:solidFill>
                <a:latin typeface="Aptos"/>
              </a:rPr>
              <a:t>Scan -&gt; Extract -&gt; Verify -&gt; Post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49834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A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09728"/>
          <a:lstStyle/>
          <a:p>
            <a:pPr algn="ctr"/>
            <a:r>
              <a:rPr sz="1200" b="1">
                <a:solidFill>
                  <a:srgbClr val="965E3D"/>
                </a:solidFill>
                <a:latin typeface="Aptos"/>
              </a:rPr>
              <a:t>Problem addressed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B34"/>
                </a:solidFill>
                <a:latin typeface="Aptos"/>
              </a:rPr>
              <a:t>Manual keying of BOLs, packing lists, invoices, PODs, purchase orders, customs documents, and tally sheets.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B34"/>
                </a:solidFill>
                <a:latin typeface="Aptos"/>
              </a:rPr>
              <a:t>Current pain points: slow processing, error risk, labor cost, and dock bottlenecks.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49834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A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09728"/>
          <a:lstStyle/>
          <a:p>
            <a:pPr algn="ctr"/>
            <a:r>
              <a:rPr sz="1200" b="1">
                <a:solidFill>
                  <a:srgbClr val="965E3D"/>
                </a:solidFill>
                <a:latin typeface="Aptos"/>
              </a:rPr>
              <a:t>Proposed workflow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B34"/>
                </a:solidFill>
                <a:latin typeface="Aptos"/>
              </a:rPr>
              <a:t>Capture from phone camera, scanner, email attachment, upload, EDI inbound, or PDF.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B34"/>
                </a:solidFill>
                <a:latin typeface="Aptos"/>
              </a:rPr>
              <a:t>AI/OCR extracts structured fields with confidence scores.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B34"/>
                </a:solidFill>
                <a:latin typeface="Aptos"/>
              </a:rPr>
              <a:t>Human review confirms low-confidence fields before posting into WMS workflows.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355080"/>
            <a:ext cx="3840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6B72"/>
                </a:solidFill>
                <a:latin typeface="Aptos"/>
              </a:rPr>
              <a:t>Source: docs/document-intelligence.md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6B72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B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222B34"/>
                </a:solidFill>
                <a:latin typeface="Aptos"/>
              </a:rPr>
              <a:t>Competitive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1556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46B72"/>
                </a:solidFill>
                <a:latin typeface="Aptos"/>
              </a:rPr>
              <a:t>Alternatives Reviewed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49834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A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09728"/>
          <a:lstStyle/>
          <a:p>
            <a:pPr algn="ctr"/>
            <a:r>
              <a:rPr sz="1200" b="1">
                <a:solidFill>
                  <a:srgbClr val="965E3D"/>
                </a:solidFill>
                <a:latin typeface="Aptos"/>
              </a:rPr>
              <a:t>Compared platforms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B34"/>
                </a:solidFill>
                <a:latin typeface="Aptos"/>
              </a:rPr>
              <a:t>Logiwa IO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B34"/>
                </a:solidFill>
                <a:latin typeface="Aptos"/>
              </a:rPr>
              <a:t>Oracle NetSuite WMS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B34"/>
                </a:solidFill>
                <a:latin typeface="Aptos"/>
              </a:rPr>
              <a:t>Magaya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B34"/>
                </a:solidFill>
                <a:latin typeface="Aptos"/>
              </a:rPr>
              <a:t>3PL Warehouse Manager (Extensiv)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49834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A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09728"/>
          <a:lstStyle/>
          <a:p>
            <a:pPr algn="ctr"/>
            <a:r>
              <a:rPr sz="1200" b="1">
                <a:solidFill>
                  <a:srgbClr val="965E3D"/>
                </a:solidFill>
                <a:latin typeface="Aptos"/>
              </a:rPr>
              <a:t>Comparison dimensions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B34"/>
                </a:solidFill>
                <a:latin typeface="Aptos"/>
              </a:rPr>
              <a:t>Primary market, domain focus, multi-tenancy, architecture, receiving, inventory, integrations, pricing, and billing.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977640"/>
            <a:ext cx="49834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A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09728"/>
          <a:lstStyle/>
          <a:p>
            <a:pPr algn="ctr"/>
            <a:r>
              <a:rPr sz="1200" b="1">
                <a:solidFill>
                  <a:srgbClr val="965E3D"/>
                </a:solidFill>
                <a:latin typeface="Aptos"/>
              </a:rPr>
              <a:t>Document takeaway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B34"/>
                </a:solidFill>
                <a:latin typeface="Aptos"/>
              </a:rPr>
              <a:t>Armstrong is positioned as combining freight-oriented receiving depth with fulfillment breadth.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355080"/>
            <a:ext cx="3840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6B72"/>
                </a:solidFill>
                <a:latin typeface="Aptos"/>
              </a:rPr>
              <a:t>Source: docs/competitive-analysis.md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6B72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B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222B34"/>
                </a:solidFill>
                <a:latin typeface="Aptos"/>
              </a:rPr>
              <a:t>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1556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46B72"/>
                </a:solidFill>
                <a:latin typeface="Aptos"/>
              </a:rPr>
              <a:t>Local And AWS Production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49834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A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09728"/>
          <a:lstStyle/>
          <a:p>
            <a:pPr algn="ctr"/>
            <a:r>
              <a:rPr sz="1200" b="1">
                <a:solidFill>
                  <a:srgbClr val="965E3D"/>
                </a:solidFill>
                <a:latin typeface="Aptos"/>
              </a:rPr>
              <a:t>Local development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B34"/>
                </a:solidFill>
                <a:latin typeface="Aptos"/>
              </a:rPr>
              <a:t>Docker Compose for PostgreSQL and MinIO.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B34"/>
                </a:solidFill>
                <a:latin typeface="Aptos"/>
              </a:rPr>
              <a:t>Next.js dev server runs on the host and connects to local containers.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49834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A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09728"/>
          <a:lstStyle/>
          <a:p>
            <a:pPr algn="ctr"/>
            <a:r>
              <a:rPr sz="1200" b="1">
                <a:solidFill>
                  <a:srgbClr val="965E3D"/>
                </a:solidFill>
                <a:latin typeface="Aptos"/>
              </a:rPr>
              <a:t>AWS production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B34"/>
                </a:solidFill>
                <a:latin typeface="Aptos"/>
              </a:rPr>
              <a:t>App Runner or ECS Fargate for the application.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B34"/>
                </a:solidFill>
                <a:latin typeface="Aptos"/>
              </a:rPr>
              <a:t>RDS PostgreSQL 16 for database, S3 for file storage, and Route 53 plus CloudFront for DNS and SSL.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977640"/>
            <a:ext cx="49834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A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09728"/>
          <a:lstStyle/>
          <a:p>
            <a:pPr algn="ctr"/>
            <a:r>
              <a:rPr sz="1200" b="1">
                <a:solidFill>
                  <a:srgbClr val="965E3D"/>
                </a:solidFill>
                <a:latin typeface="Aptos"/>
              </a:rPr>
              <a:t>Environment model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B34"/>
                </a:solidFill>
                <a:latin typeface="Aptos"/>
              </a:rPr>
              <a:t>No code changes required between local and AWS; switch is driven by environment variables.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355080"/>
            <a:ext cx="3840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6B72"/>
                </a:solidFill>
                <a:latin typeface="Aptos"/>
              </a:rPr>
              <a:t>Source: docs/deployment.md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6B72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B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222B34"/>
                </a:solidFill>
                <a:latin typeface="Aptos"/>
              </a:rPr>
              <a:t>Source Documents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1556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46B72"/>
                </a:solidFill>
                <a:latin typeface="Aptos"/>
              </a:rPr>
              <a:t>Included In This Presentation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49834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A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09728"/>
          <a:lstStyle/>
          <a:p>
            <a:pPr algn="ctr"/>
            <a:r>
              <a:rPr sz="1200" b="1">
                <a:solidFill>
                  <a:srgbClr val="965E3D"/>
                </a:solidFill>
                <a:latin typeface="Aptos"/>
              </a:rPr>
              <a:t>Documents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B34"/>
                </a:solidFill>
                <a:latin typeface="Aptos"/>
              </a:rPr>
              <a:t>docs/architecture.md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B34"/>
                </a:solidFill>
                <a:latin typeface="Aptos"/>
              </a:rPr>
              <a:t>docs/ecosystem.md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B34"/>
                </a:solidFill>
                <a:latin typeface="Aptos"/>
              </a:rPr>
              <a:t>docs/flow-identification-to-cash.md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B34"/>
                </a:solidFill>
                <a:latin typeface="Aptos"/>
              </a:rPr>
              <a:t>docs/flow-receiving.md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B34"/>
                </a:solidFill>
                <a:latin typeface="Aptos"/>
              </a:rPr>
              <a:t>docs/flow-fulfillment.md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B34"/>
                </a:solidFill>
                <a:latin typeface="Aptos"/>
              </a:rPr>
              <a:t>docs/document-intelligence.md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B34"/>
                </a:solidFill>
                <a:latin typeface="Aptos"/>
              </a:rPr>
              <a:t>docs/competitive-analysis.md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B34"/>
                </a:solidFill>
                <a:latin typeface="Aptos"/>
              </a:rPr>
              <a:t>docs/deployment.md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6B72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Armstrong WMS Cleaned Document Presentation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